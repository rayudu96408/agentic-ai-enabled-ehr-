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27" r:id="rId3"/>
    <p:sldId id="329" r:id="rId4"/>
    <p:sldId id="330" r:id="rId5"/>
    <p:sldId id="328" r:id="rId6"/>
    <p:sldId id="263" r:id="rId7"/>
    <p:sldId id="334" r:id="rId8"/>
    <p:sldId id="337" r:id="rId9"/>
    <p:sldId id="267" r:id="rId10"/>
    <p:sldId id="269" r:id="rId11"/>
    <p:sldId id="271" r:id="rId12"/>
    <p:sldId id="266" r:id="rId13"/>
    <p:sldId id="270" r:id="rId14"/>
    <p:sldId id="336" r:id="rId15"/>
    <p:sldId id="333" r:id="rId16"/>
    <p:sldId id="275" r:id="rId17"/>
    <p:sldId id="2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0:42:0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0:41:34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0:41:3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D8D9C-848D-459A-8E5B-3FF2E2F61A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E1142-6566-46E8-9D19-1EF931576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83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8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FD2A-5F43-DC15-F92D-2F71D3AA3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5B126-7AB2-D31C-4558-A010D8CB1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84D51-0F0D-6213-5D89-CC9CDA38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CF786-2B70-45E7-015D-23837396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55E2E-9F0D-AC54-73FC-17B597D5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52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8486-5A6B-B4CF-B6A3-F7DE86B6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CFE8-9DC5-7280-216B-4F09CBBE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3D29-6424-0DBC-D21D-B35A4017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A5319-C1AA-D3F7-561F-305DF8E8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B2D2F-B131-9DE3-BFDC-7B1C4825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7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2393-5C10-5679-CA1C-6C4053A1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3FBC3-70FA-DCAE-BAED-54E0B13A9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155D8-49C4-A163-276F-62FE7848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34053-BB92-96BD-A2CB-ADF10742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F4696-C4C8-AADF-0CF8-AD98CA95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996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7592-8020-8BA4-E92D-E57D7439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2D38-1217-13BF-5A6A-10D0C031C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C6AB2-0358-5B78-59E3-E6FEDB700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A78EE-C78A-6B14-18A2-B96DA38A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E3C50-8A93-31C3-090F-6901C1B2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88271-D07E-8ADE-AE92-EA29E3F9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74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09BB-0625-FFF6-B9EC-1727ADFA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0A12C-78E8-05BE-4F9C-36DEBDCD0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20918-980D-0834-EBE6-16DC6BA8A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8571A-D131-B42C-662A-BC15C6422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5EF0A-79A3-F844-5B0C-56749C99F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685B8-BFA5-139E-A8A4-602E5739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8DC96-999B-8154-930D-775B42B7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832D8-DFEB-D45C-1701-D4A572C9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51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1EA1-1368-B605-5BFC-CB794D7C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280228-AAF8-1AA3-2D9B-8E9A1209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E3810-E529-41D9-3220-F493AA23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6AE63-1426-BA19-18CD-3890798F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3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A5954-19BD-3EDF-F755-C6C5F221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F3E57-A93B-8583-5813-428AF59A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CE396-B9DE-54B5-0823-1F103BF9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74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0FEE-E5C1-7EB7-64A5-01DA668D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63B89-EE9E-AF57-D761-0FD7FEAE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3B3C5-F0FC-F77F-1B46-A52957425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4C551-5405-F4C0-94A9-870A3A94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5B676-9585-2C21-585C-5638B6AD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72661-1270-B652-F767-5E034E63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09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4059-BBED-E814-6524-A965B577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19033-269B-E288-3774-9BC290A8A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F5626-172F-8712-05E7-EB88EA300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E61FD-90EC-95D1-6BFE-E617D655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AC484-4709-A4C6-308F-543315D1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6CE2-4358-66BA-23E2-FC499E49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2383-5508-8FD9-4005-E2B52D46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9B4C2-F169-DD5F-8F2F-E0FC145FC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0D22-6BBC-B942-142C-5AB334CB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07E40-16CD-D635-9F28-B4A7E1D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B956-63C8-E1B6-C8A6-F585C431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2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4B65E-0908-5B6A-D230-6E1FE131A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ADEC0-D427-FCF3-BC33-DA0C9F0EB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A8DCE-42DA-6AB7-94B3-755730B6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1ABC0-798A-36FB-A395-8C7AAB46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89709-B807-14E0-0E1A-64FAC2A3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590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701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131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55336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64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48AD1-64C5-74F7-F6F8-B8D26B2B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1E38C-1ACB-3A76-8E7A-F66B67883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0F086-61CC-5951-E220-86DCDAC83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DDA28-FFDD-4748-B73B-3AB2D56BCB4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B3FE5-A1EE-1A09-9DA1-7AC0747B7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19788-B82F-F4BA-2218-79B84B1E4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BC84A-6F99-4010-82A6-0FEB0D68F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51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15" Type="http://schemas.openxmlformats.org/officeDocument/2006/relationships/customXml" Target="../ink/ink3.xml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AAC755-3D7B-5342-3168-17D7CE206E44}"/>
              </a:ext>
            </a:extLst>
          </p:cNvPr>
          <p:cNvSpPr/>
          <p:nvPr/>
        </p:nvSpPr>
        <p:spPr>
          <a:xfrm>
            <a:off x="0" y="1632155"/>
            <a:ext cx="12192000" cy="1737147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800"/>
              </a:spcAft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enabled secure Electronic Health Record using permissioned blockchain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nitw brand logo">
            <a:extLst>
              <a:ext uri="{FF2B5EF4-FFF2-40B4-BE49-F238E27FC236}">
                <a16:creationId xmlns:a16="http://schemas.microsoft.com/office/drawing/2014/main" id="{CEC36317-27FE-3C2B-E5C7-0C35D0FF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134489"/>
            <a:ext cx="9684774" cy="127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74C51F-BFA1-715A-4951-D4A3A1539224}"/>
              </a:ext>
            </a:extLst>
          </p:cNvPr>
          <p:cNvSpPr txBox="1"/>
          <p:nvPr/>
        </p:nvSpPr>
        <p:spPr>
          <a:xfrm>
            <a:off x="216310" y="3578942"/>
            <a:ext cx="107859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R.Chinna</a:t>
            </a:r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rayudu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22CSB0A45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IN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P.Krishnamohan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22CSB0A04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IN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N.Shiva</a:t>
            </a:r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22CSB0C26)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E.Suresh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		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Engineering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13/04/2026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7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3CC1-6770-93B4-352E-FAD10D22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C7ECB-B786-3E44-BFCD-75F789B15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F324-8EFD-5484-A24F-F3CEFD7E5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0607" y="1238865"/>
            <a:ext cx="10511628" cy="5254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face challenges due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patient records, lack of secure identity, and absence of consent‑based data sharing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Doctors often cannot access complete medical history, leading to delayed diagnosis and repeated tests. Additionally, existing systems lack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AI‑based decision support and secure, tamper‑proof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challenges, there is a need for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intelligent, and decentralized Electronic Health Record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integrates: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for diagnosis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for patient identity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 for record referencing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 for secure storage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Consent‑based access control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258BEF4-684F-1881-09DB-90BDB60B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65661"/>
            <a:ext cx="10296260" cy="889513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68EEF4-38E8-48B1-F27F-A1088ACA6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5" t="19594" r="8505" b="4498"/>
          <a:stretch>
            <a:fillRect/>
          </a:stretch>
        </p:blipFill>
        <p:spPr bwMode="auto">
          <a:xfrm>
            <a:off x="5034116" y="3753070"/>
            <a:ext cx="5692877" cy="293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D0D9E8-2948-4633-A3E7-34492BBA3DF6}"/>
              </a:ext>
            </a:extLst>
          </p:cNvPr>
          <p:cNvSpPr txBox="1"/>
          <p:nvPr/>
        </p:nvSpPr>
        <p:spPr>
          <a:xfrm>
            <a:off x="6376692" y="3283974"/>
            <a:ext cx="2482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Key Problems</a:t>
            </a:r>
          </a:p>
        </p:txBody>
      </p:sp>
    </p:spTree>
    <p:extLst>
      <p:ext uri="{BB962C8B-B14F-4D97-AF65-F5344CB8AC3E}">
        <p14:creationId xmlns:p14="http://schemas.microsoft.com/office/powerpoint/2010/main" val="294985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FB53-3CAA-33B3-1F39-DBEA419E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654153"/>
            <a:ext cx="7855974" cy="90917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4C25-030A-4541-2A29-9EE467E7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5" y="1740310"/>
            <a:ext cx="7262106" cy="4984955"/>
          </a:xfrm>
        </p:spPr>
        <p:txBody>
          <a:bodyPr>
            <a:norm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EHR systems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AI diagnosis tools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medical coding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multi-modal intelligence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scattered across hospitals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patient identity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patient‑controlled consent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sharing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data integrity &amp; auditability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interoperability across hospitals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19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EB7C-A7F7-962B-E9DA-79917D764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499446"/>
            <a:ext cx="7330932" cy="111565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72932-4E71-B1FC-CDA9-263EFB9B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1615101"/>
            <a:ext cx="5622955" cy="4687375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Our System?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Multi‑Agent AI Healthcare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Image, and Video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through the web UI and uses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AI agents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extraction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identification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coding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AI‑based medical assessment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FHIR Standard Healthcare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Electronic Health Records (EHR)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Platforms: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Off‑chain (IPFS)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Stores EHR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On‑chain (Hyperledger Fabric)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Stores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 + Patient DID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A62D8-BE4E-B0E6-6146-14868B94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16" y="1995949"/>
            <a:ext cx="7059327" cy="380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6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F325-C0F7-700C-2931-38175EDB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304738"/>
            <a:ext cx="10511627" cy="1012785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36BC-2F40-6B3F-F8F2-1C23FE26B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1781" y="1199535"/>
            <a:ext cx="10889698" cy="56409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Flask‑Based Web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Image, and Video inputs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patients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 using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DID‑based identity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AI agents with storage and blockchain layers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Multi-Agent AI Collaboration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agents for: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Image/X-ray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fusion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Automated Medical Coding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SNOMED 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ICD-10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Decentralized &amp; Secure Storage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(Off‑chain)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storing medical records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 (Blockchain)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storing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 + Patient DID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Tamper‑proof and decentralized access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Multi Agent System in AI - GeeksforGeeks">
            <a:extLst>
              <a:ext uri="{FF2B5EF4-FFF2-40B4-BE49-F238E27FC236}">
                <a16:creationId xmlns:a16="http://schemas.microsoft.com/office/drawing/2014/main" id="{178EDBBC-6D0D-03B9-437B-687CEF689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C688B6-F8F6-6DBA-0114-1E89B0F54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806" y="2026525"/>
            <a:ext cx="5648794" cy="27690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7FAFE0-5BF0-9EA3-5DFA-2771E5D0C0D0}"/>
              </a:ext>
            </a:extLst>
          </p:cNvPr>
          <p:cNvSpPr txBox="1"/>
          <p:nvPr/>
        </p:nvSpPr>
        <p:spPr>
          <a:xfrm>
            <a:off x="6096000" y="5100343"/>
            <a:ext cx="4689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used for agent communication:-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–based Message Passing Protocol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E7A496-9CA1-5C04-79E1-172ECE207477}"/>
                  </a:ext>
                </a:extLst>
              </p14:cNvPr>
              <p14:cNvContentPartPr/>
              <p14:nvPr/>
            </p14:nvContentPartPr>
            <p14:xfrm>
              <a:off x="1464817" y="218266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E7A496-9CA1-5C04-79E1-172ECE2074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8697" y="217654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732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8D9C-1B67-E936-91EE-A16D0139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3" y="0"/>
            <a:ext cx="5997677" cy="639098"/>
          </a:xfrm>
        </p:spPr>
        <p:txBody>
          <a:bodyPr>
            <a:normAutofit/>
          </a:bodyPr>
          <a:lstStyle/>
          <a:p>
            <a:r>
              <a:rPr lang="en-IN" sz="3600" b="1" dirty="0"/>
              <a:t>System Architecture(High level)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974E9C8-DA8A-A8A5-63CD-7701E20FFE90}"/>
                  </a:ext>
                </a:extLst>
              </p14:cNvPr>
              <p14:cNvContentPartPr/>
              <p14:nvPr/>
            </p14:nvContentPartPr>
            <p14:xfrm>
              <a:off x="-531383" y="3264348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974E9C8-DA8A-A8A5-63CD-7701E20FFE9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37503" y="32582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2F331B0-D690-31A1-B88E-5FE5572E2826}"/>
                  </a:ext>
                </a:extLst>
              </p14:cNvPr>
              <p14:cNvContentPartPr/>
              <p14:nvPr/>
            </p14:nvContentPartPr>
            <p14:xfrm>
              <a:off x="-1022783" y="1740108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2F331B0-D690-31A1-B88E-5FE5572E28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028903" y="173398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F843474-4B4E-04CF-791B-B18AF1851EA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9377" y="570271"/>
            <a:ext cx="8002378" cy="628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0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0AE2-242F-1690-0F96-42C09DEB1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593375"/>
            <a:ext cx="10639447" cy="589936"/>
          </a:xfrm>
        </p:spPr>
        <p:txBody>
          <a:bodyPr>
            <a:normAutofit/>
          </a:bodyPr>
          <a:lstStyle/>
          <a:p>
            <a:pPr algn="l"/>
            <a:r>
              <a:rPr lang="en-IN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Agent AI </a:t>
            </a:r>
            <a:r>
              <a:rPr lang="en-I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pipleine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D1606-0874-E03B-F567-BE0F314C0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0606" y="1183311"/>
            <a:ext cx="10875422" cy="50813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medical insights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and medical images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entity extraction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R2Gen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 report generation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agent 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+ image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output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FHIR JSON + Medical coding (ICD-10, SNOMED-CT)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Structured medical diagnosis in FHIR format.</a:t>
            </a:r>
          </a:p>
          <a:p>
            <a:pPr marL="0" indent="0"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Web UI</a:t>
            </a:r>
          </a:p>
          <a:p>
            <a:pPr marL="0" indent="0">
              <a:buNone/>
            </a:pPr>
            <a:r>
              <a:rPr lang="en-IN" b="1" dirty="0"/>
              <a:t>Description: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Patient dashboard (upload records, view diagnosis)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Doctor dashboard (view EHR, request consent)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Real-time </a:t>
            </a:r>
            <a:r>
              <a:rPr lang="en-IN" b="1" dirty="0"/>
              <a:t>Consent management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Patient identity using </a:t>
            </a:r>
            <a:r>
              <a:rPr lang="en-IN" b="1" dirty="0"/>
              <a:t>DID + Aadhaar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Output:</a:t>
            </a:r>
            <a:r>
              <a:rPr lang="en-IN" dirty="0"/>
              <a:t> User interaction + Consent approval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E4F5D-42D5-4960-153F-8F7DAF90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990" y="490739"/>
            <a:ext cx="2694038" cy="2938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A1BBDE-951E-090A-9FDB-3297150C8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003" y="3827627"/>
            <a:ext cx="2543530" cy="2781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5F2FF2-F3B7-1558-F4D0-EB225FECD174}"/>
              </a:ext>
            </a:extLst>
          </p:cNvPr>
          <p:cNvSpPr txBox="1"/>
          <p:nvPr/>
        </p:nvSpPr>
        <p:spPr>
          <a:xfrm>
            <a:off x="9491533" y="5997929"/>
            <a:ext cx="199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C8499-D63E-9668-648B-F3405F7920DC}"/>
              </a:ext>
            </a:extLst>
          </p:cNvPr>
          <p:cNvSpPr txBox="1"/>
          <p:nvPr/>
        </p:nvSpPr>
        <p:spPr>
          <a:xfrm>
            <a:off x="7500498" y="1581938"/>
            <a:ext cx="199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136150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8700-75AD-CEE4-3904-782045BF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88CB-A476-57A2-73BC-1AFD15FC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593375"/>
            <a:ext cx="10639447" cy="589936"/>
          </a:xfrm>
        </p:spPr>
        <p:txBody>
          <a:bodyPr>
            <a:normAutofit/>
          </a:bodyPr>
          <a:lstStyle/>
          <a:p>
            <a:pPr algn="l"/>
            <a:r>
              <a:rPr lang="en-IN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:– IPFS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6134B-A296-1A67-EBBC-49757F593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0606" y="1183311"/>
            <a:ext cx="10875422" cy="50813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FHIR JSON data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decentralized storage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 hash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 EHR storage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service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persistence 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CID hash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Hyperledger Blockchain</a:t>
            </a:r>
          </a:p>
          <a:p>
            <a:pPr marL="0" indent="0">
              <a:buNone/>
            </a:pPr>
            <a:r>
              <a:rPr lang="en-IN" sz="2100" b="1" dirty="0"/>
              <a:t>Description:</a:t>
            </a:r>
            <a:endParaRPr lang="en-IN" sz="21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100" dirty="0"/>
              <a:t>Stores </a:t>
            </a:r>
            <a:r>
              <a:rPr lang="en-IN" sz="2100" b="1" dirty="0"/>
              <a:t>CID hash on blockchain</a:t>
            </a:r>
            <a:r>
              <a:rPr lang="en-IN" sz="2100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100" dirty="0"/>
              <a:t>Smart contract for </a:t>
            </a:r>
            <a:r>
              <a:rPr lang="en-IN" sz="2100" b="1" dirty="0"/>
              <a:t>access control</a:t>
            </a:r>
            <a:r>
              <a:rPr lang="en-IN" sz="2100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100" dirty="0"/>
              <a:t>Patient DID based identity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100" dirty="0"/>
              <a:t>Immutable audit trail </a:t>
            </a:r>
          </a:p>
          <a:p>
            <a:pPr marL="0" indent="0">
              <a:buNone/>
            </a:pPr>
            <a:r>
              <a:rPr lang="en-IN" sz="2100" b="1" dirty="0"/>
              <a:t>Output:</a:t>
            </a:r>
            <a:r>
              <a:rPr lang="en-IN" sz="2100" dirty="0"/>
              <a:t> Secure &amp; tamper-proof EHR access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DEBC7-EFA5-B26E-BCB7-6DA6B9E4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620" y="3650483"/>
            <a:ext cx="2385216" cy="2609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364BF1-2D66-97E7-0BE6-D9AF93BAB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30" y="1052499"/>
            <a:ext cx="3400644" cy="1731236"/>
          </a:xfrm>
          <a:prstGeom prst="rect">
            <a:avLst/>
          </a:prstGeom>
        </p:spPr>
      </p:pic>
      <p:pic>
        <p:nvPicPr>
          <p:cNvPr id="8" name="Picture 4" descr="How Fabric networks are structured — Hyperledger Fabric Docs main  documentation">
            <a:extLst>
              <a:ext uri="{FF2B5EF4-FFF2-40B4-BE49-F238E27FC236}">
                <a16:creationId xmlns:a16="http://schemas.microsoft.com/office/drawing/2014/main" id="{98101B34-6381-8BBE-5A93-22C30BE3B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289" y="3964306"/>
            <a:ext cx="4375353" cy="198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BA195-8C03-24EB-47BB-579D90BC5852}"/>
              </a:ext>
            </a:extLst>
          </p:cNvPr>
          <p:cNvSpPr txBox="1"/>
          <p:nvPr/>
        </p:nvSpPr>
        <p:spPr>
          <a:xfrm>
            <a:off x="5712542" y="6027929"/>
            <a:ext cx="4533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A1–A3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Applications         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CA0–CA3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Certificate Authorities</a:t>
            </a: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P1–P3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Peer Nodes           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L1–L2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Ledger</a:t>
            </a: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S5–S6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Smart Contracts   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Ordering Service</a:t>
            </a: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C1–C2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Channels               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CC1.1–CC2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→ Consortiums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0FD1A-D136-1EF8-7732-18BF61A15DC0}"/>
              </a:ext>
            </a:extLst>
          </p:cNvPr>
          <p:cNvSpPr txBox="1"/>
          <p:nvPr/>
        </p:nvSpPr>
        <p:spPr>
          <a:xfrm>
            <a:off x="9840575" y="6305592"/>
            <a:ext cx="199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16734-ED54-B508-84BD-E57C7CF23B69}"/>
              </a:ext>
            </a:extLst>
          </p:cNvPr>
          <p:cNvSpPr txBox="1"/>
          <p:nvPr/>
        </p:nvSpPr>
        <p:spPr>
          <a:xfrm>
            <a:off x="7305365" y="2936135"/>
            <a:ext cx="199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324728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Transaction Flow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341120"/>
            <a:ext cx="10728960" cy="46329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914400" y="1341120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84960" y="1341120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submits clinical text + X-ray image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840992"/>
            <a:ext cx="10728960" cy="463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0992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4960" y="1840992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BioBERT extracts entities (fever, cough, headache)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10728960" cy="4632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40864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4960" y="2340864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R2Gen generates radiology report from X-ray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2840736"/>
            <a:ext cx="10728960" cy="463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40736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4960" y="2840736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Mistral LLM fuses assessments → clinical conclusion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340608"/>
            <a:ext cx="10728960" cy="4632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40608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5.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4960" y="3340608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Coding Agent maps to ICD-10 + SNOMED-CT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0728960" cy="463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40480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6.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4960" y="3840480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FHIR R4 Observation resource generated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4340352"/>
            <a:ext cx="10728960" cy="4632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40352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7.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84960" y="4340352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FHIR uploaded to IPFS → CID returned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1520" y="4840224"/>
            <a:ext cx="10728960" cy="463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40224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8.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84960" y="4840224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 committed to blockchain (Org endorsement)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31520" y="5340096"/>
            <a:ext cx="10728960" cy="4632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340096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9.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84960" y="5340096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EHR record written to CSV with DID, timestamp, CID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1520" y="5839968"/>
            <a:ext cx="10728960" cy="463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839968"/>
            <a:ext cx="487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</a:rPr>
              <a:t>10.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84960" y="5839968"/>
            <a:ext cx="9631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sees completion page with their DID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6720"/>
            <a:ext cx="2804160" cy="341376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672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8778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B1D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Interface — Patient &amp; Doctor Workflows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64592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720" y="1889760"/>
            <a:ext cx="3596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1889760"/>
            <a:ext cx="3596640" cy="463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74976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35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pillars: Agentic AI Diagnosis, Secure EHR, Blockchain, IPFS Storage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4267200" y="1889760"/>
            <a:ext cx="3596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7200" y="1889760"/>
            <a:ext cx="3596640" cy="463296"/>
          </a:xfrm>
          <a:prstGeom prst="rect">
            <a:avLst/>
          </a:prstGeom>
          <a:solidFill>
            <a:srgbClr val="0D7A5A"/>
          </a:solidFill>
          <a:ln w="12700">
            <a:solidFill>
              <a:srgbClr val="0D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938528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474976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2926080"/>
            <a:ext cx="335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Aadhar de-duplication, DID generation, AI pipeline launch on submit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8107680" y="1889760"/>
            <a:ext cx="3596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7680" y="1889760"/>
            <a:ext cx="3596640" cy="463296"/>
          </a:xfrm>
          <a:prstGeom prst="rect">
            <a:avLst/>
          </a:prstGeom>
          <a:solidFill>
            <a:srgbClr val="6D3B8F"/>
          </a:solidFill>
          <a:ln w="12700">
            <a:solidFill>
              <a:srgbClr val="6D3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38528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474976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926080"/>
            <a:ext cx="335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Records · New Upload · AI Diagnosis — three panels, three routes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426720" y="4133088"/>
            <a:ext cx="3596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6720" y="4133088"/>
            <a:ext cx="3596640" cy="463296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1856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18304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Upload Form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169408"/>
            <a:ext cx="335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 (Mode 1) or Text + Image (Mode 2) — activates BioBERT + R2Gen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4267200" y="4133088"/>
            <a:ext cx="3596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67200" y="4133088"/>
            <a:ext cx="3596640" cy="4632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4181856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4718304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89120" y="5169408"/>
            <a:ext cx="335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20-patient grid — every View triggers consent flow; cannot be bypassed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8107680" y="4133088"/>
            <a:ext cx="3596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07680" y="4133088"/>
            <a:ext cx="3596640" cy="463296"/>
          </a:xfrm>
          <a:prstGeom prst="rect">
            <a:avLst/>
          </a:prstGeom>
          <a:solidFill>
            <a:srgbClr val="0D6B3A"/>
          </a:solidFill>
          <a:ln w="12700">
            <a:solidFill>
              <a:srgbClr val="0D6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181856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718304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Complete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0" y="5169408"/>
            <a:ext cx="335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only renders when returncode=0 — proof of full end-to-end execution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Multi-Layer Security Architecture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54864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9600" y="1463040"/>
            <a:ext cx="5486400" cy="426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92480" y="1524000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 Integrity Verification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2480" y="2011680"/>
            <a:ext cx="5120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byte modification changes the IPFS content hash, making tampering cryptographically detectable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1524000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Multi-Organization Endorsement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609600" y="3169920"/>
            <a:ext cx="54864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" y="3169920"/>
            <a:ext cx="5486400" cy="426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92480" y="3230880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Patient-Controlled Consent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2480" y="3718560"/>
            <a:ext cx="5120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Zero-persistence authorization - every doctor access requires real-time patient approval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3169920"/>
            <a:ext cx="54864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3169920"/>
            <a:ext cx="5486400" cy="426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230880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TLS 1.3 Encryption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3718560"/>
            <a:ext cx="5120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Hyperledger Fabric inter-component communication uses mutual TLS authentication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876800"/>
            <a:ext cx="54864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600" y="4876800"/>
            <a:ext cx="5486400" cy="426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92480" y="4937760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ABAC Chaincode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2480" y="5425440"/>
            <a:ext cx="5120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Attribute-Based Access Control restricts CreateAsset to identities with abac.creator=true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1543665"/>
            <a:ext cx="54864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1525966"/>
            <a:ext cx="5486400" cy="426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6461760" y="1584960"/>
            <a:ext cx="5120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Storage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1760" y="2115901"/>
            <a:ext cx="5120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server holds all records - eliminates single point of failure and breach risk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75360" y="1828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1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975360" y="26822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2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975360" y="35356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3</a:t>
            </a:r>
            <a:endParaRPr lang="en-US" sz="2667" dirty="0"/>
          </a:p>
        </p:txBody>
      </p:sp>
      <p:sp>
        <p:nvSpPr>
          <p:cNvPr id="14" name="Text 12"/>
          <p:cNvSpPr/>
          <p:nvPr/>
        </p:nvSpPr>
        <p:spPr>
          <a:xfrm>
            <a:off x="975360" y="43891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4</a:t>
            </a:r>
            <a:endParaRPr lang="en-US" sz="2667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82387D-DBFC-66FA-2003-B2052001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6" y="1197282"/>
            <a:ext cx="5641557" cy="36598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7A68AA-3844-4491-C60A-A9108643A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583" y="1081302"/>
            <a:ext cx="6159125" cy="36598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Analysis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828800" y="1463040"/>
            <a:ext cx="8534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207264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</a:rPr>
              <a:t>BioBERT NER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7680960" y="146304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065A82"/>
                </a:solidFill>
              </a:rPr>
              <a:t>1–2 seconds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1828800" y="2048256"/>
            <a:ext cx="8534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072640" y="204825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R2Gen Image Analysis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0" y="2048256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065A82"/>
                </a:solidFill>
              </a:rPr>
              <a:t>3–8 seconds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1828800" y="2633472"/>
            <a:ext cx="8534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2072640" y="263347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Mistral Fusion Agent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0960" y="2633472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065A82"/>
                </a:solidFill>
              </a:rPr>
              <a:t>5–10 seconds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1828800" y="3218688"/>
            <a:ext cx="8534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2072640" y="321868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Coding Agent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0960" y="3218688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065A82"/>
                </a:solidFill>
              </a:rPr>
              <a:t>3–6 seconds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1828800" y="3803904"/>
            <a:ext cx="8534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2072640" y="380390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IPFS Upload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0960" y="3803904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065A82"/>
                </a:solidFill>
              </a:rPr>
              <a:t>&lt;1 second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1828800" y="4389120"/>
            <a:ext cx="8534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072640" y="4389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Commit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0" y="43891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065A82"/>
                </a:solidFill>
              </a:rPr>
              <a:t>2–4 seconds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1828800" y="4974336"/>
            <a:ext cx="8534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2072640" y="49743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(Text Only)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0960" y="4974336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FFFFFF"/>
                </a:solidFill>
              </a:rPr>
              <a:t>8–15 seconds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1828800" y="5559552"/>
            <a:ext cx="8534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2072640" y="555955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(Text + Image)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80960" y="5559552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b="1" dirty="0">
                <a:solidFill>
                  <a:srgbClr val="FFFFFF"/>
                </a:solidFill>
              </a:rPr>
              <a:t>15–25 seconds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09600" y="609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EA6C-B8F6-5DDC-B255-AFFD3F1B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DC02-3FE7-B6DF-4094-65466DDF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856" y="322097"/>
            <a:ext cx="10660054" cy="678844"/>
          </a:xfrm>
        </p:spPr>
        <p:txBody>
          <a:bodyPr/>
          <a:lstStyle/>
          <a:p>
            <a:pPr algn="l"/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(Frontend part)</a:t>
            </a:r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91F1EA-5CE8-2B24-21BD-F281D2075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9" y="4141154"/>
            <a:ext cx="4374274" cy="2498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43A1BC-431E-950B-B687-8E3339C6A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65" y="1248697"/>
            <a:ext cx="3510115" cy="22320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D1BA68-AC9D-5498-6414-63697E94CF11}"/>
              </a:ext>
            </a:extLst>
          </p:cNvPr>
          <p:cNvSpPr txBox="1"/>
          <p:nvPr/>
        </p:nvSpPr>
        <p:spPr>
          <a:xfrm>
            <a:off x="4857136" y="2804694"/>
            <a:ext cx="266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2E840-4D37-3C8F-BCD7-2F9BB1167CAE}"/>
              </a:ext>
            </a:extLst>
          </p:cNvPr>
          <p:cNvSpPr txBox="1"/>
          <p:nvPr/>
        </p:nvSpPr>
        <p:spPr>
          <a:xfrm>
            <a:off x="1198813" y="5866687"/>
            <a:ext cx="266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Real time patient consent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C6F11D-E2CF-752D-E9E9-F6405F2EF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3" y="1248697"/>
            <a:ext cx="4120457" cy="2180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AF3F1-40BD-8F73-8E47-B9EC1B76D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697" y="3676168"/>
            <a:ext cx="6184490" cy="3075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2C8460-ECC8-2712-30F4-AFB3B6E16D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949" y="1248697"/>
            <a:ext cx="3814916" cy="22265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E7198D-8522-555B-05AB-0E56FCB2B5AF}"/>
              </a:ext>
            </a:extLst>
          </p:cNvPr>
          <p:cNvSpPr txBox="1"/>
          <p:nvPr/>
        </p:nvSpPr>
        <p:spPr>
          <a:xfrm>
            <a:off x="8091949" y="2518894"/>
            <a:ext cx="154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Home website</a:t>
            </a:r>
          </a:p>
        </p:txBody>
      </p:sp>
    </p:spTree>
    <p:extLst>
      <p:ext uri="{BB962C8B-B14F-4D97-AF65-F5344CB8AC3E}">
        <p14:creationId xmlns:p14="http://schemas.microsoft.com/office/powerpoint/2010/main" val="356201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E120-C1A7-54F7-C8D0-D161A474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856" y="322097"/>
            <a:ext cx="10660054" cy="678844"/>
          </a:xfrm>
        </p:spPr>
        <p:txBody>
          <a:bodyPr/>
          <a:lstStyle/>
          <a:p>
            <a:pPr algn="l"/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(Backend part)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E7A5A-C21D-C172-267B-7547B39E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120"/>
          <a:stretch>
            <a:fillRect/>
          </a:stretch>
        </p:blipFill>
        <p:spPr>
          <a:xfrm>
            <a:off x="5533809" y="575911"/>
            <a:ext cx="6028125" cy="15887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FE2E62-469E-3EB6-027D-AFFB4E499285}"/>
              </a:ext>
            </a:extLst>
          </p:cNvPr>
          <p:cNvSpPr txBox="1"/>
          <p:nvPr/>
        </p:nvSpPr>
        <p:spPr>
          <a:xfrm>
            <a:off x="1902542" y="6318971"/>
            <a:ext cx="266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Real time patient consent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72CF91-2420-B309-80E9-76F23F40D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883" y="2680246"/>
            <a:ext cx="5493979" cy="26475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34E922-4AD6-F971-CEB2-E1B4243C9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34598" y="5757812"/>
            <a:ext cx="11922803" cy="620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AA09DB-56AF-88BF-B215-545C71C16E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7" r="42903" b="3036"/>
          <a:stretch>
            <a:fillRect/>
          </a:stretch>
        </p:blipFill>
        <p:spPr>
          <a:xfrm>
            <a:off x="470856" y="1199537"/>
            <a:ext cx="4897258" cy="2615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D168B8-DEDA-D00D-89DB-D11BBC2A59BB}"/>
              </a:ext>
            </a:extLst>
          </p:cNvPr>
          <p:cNvSpPr txBox="1"/>
          <p:nvPr/>
        </p:nvSpPr>
        <p:spPr>
          <a:xfrm>
            <a:off x="1149294" y="3918677"/>
            <a:ext cx="193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Medical coding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C330A-A129-2FD0-1A82-262CF19ADD00}"/>
              </a:ext>
            </a:extLst>
          </p:cNvPr>
          <p:cNvSpPr txBox="1"/>
          <p:nvPr/>
        </p:nvSpPr>
        <p:spPr>
          <a:xfrm>
            <a:off x="2117069" y="5388480"/>
            <a:ext cx="3339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Transaction in blockchain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BF033-BE99-F328-A941-AAC693DE9099}"/>
              </a:ext>
            </a:extLst>
          </p:cNvPr>
          <p:cNvSpPr txBox="1"/>
          <p:nvPr/>
        </p:nvSpPr>
        <p:spPr>
          <a:xfrm>
            <a:off x="7169931" y="5327808"/>
            <a:ext cx="367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IPFS &amp; CSV and Blockchain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D6C53-1F5B-7706-B1F0-C3682404B2F9}"/>
              </a:ext>
            </a:extLst>
          </p:cNvPr>
          <p:cNvSpPr txBox="1"/>
          <p:nvPr/>
        </p:nvSpPr>
        <p:spPr>
          <a:xfrm>
            <a:off x="7310607" y="2208444"/>
            <a:ext cx="255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Agent AI Conclusion</a:t>
            </a:r>
          </a:p>
        </p:txBody>
      </p:sp>
    </p:spTree>
    <p:extLst>
      <p:ext uri="{BB962C8B-B14F-4D97-AF65-F5344CB8AC3E}">
        <p14:creationId xmlns:p14="http://schemas.microsoft.com/office/powerpoint/2010/main" val="4106437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548640" cy="67604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40" y="85344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6" name="Shape 4"/>
          <p:cNvSpPr/>
          <p:nvPr/>
        </p:nvSpPr>
        <p:spPr>
          <a:xfrm>
            <a:off x="853440" y="1731264"/>
            <a:ext cx="10972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3440" y="2094639"/>
            <a:ext cx="316992" cy="3169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1120" y="1731264"/>
            <a:ext cx="103022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complete, multi-role, working prototype was deployed on a real two-device Hyperledger Fabric network — not just a de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Consent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Role‑based access control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Time‑limited consent</a:t>
            </a:r>
          </a:p>
          <a:p>
            <a:endParaRPr lang="en-US" sz="1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53440" y="3084575"/>
            <a:ext cx="316992" cy="3169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1120" y="2670047"/>
            <a:ext cx="10302240" cy="113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</a:t>
            </a:r>
          </a:p>
          <a:p>
            <a:endParaRPr lang="en-US" sz="1533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&amp; Doctor mobile apps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Real‑time notifications and access</a:t>
            </a:r>
          </a:p>
          <a:p>
            <a:r>
              <a:rPr lang="en-US" sz="1533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 + Blockchain + IPFS + FHIR can be tightly integrated in a single pipeline where AI output is the direct input to decentralized storage</a:t>
            </a:r>
            <a:endParaRPr lang="en-US" sz="1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3440" y="4242817"/>
            <a:ext cx="316992" cy="3169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3977788"/>
            <a:ext cx="10472928" cy="99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Zero‑knowledge proofs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DID authentication</a:t>
            </a:r>
          </a:p>
          <a:p>
            <a:r>
              <a:rPr lang="en-US" sz="1533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 (Org1MSP:true, Org2MSP:true, status:200) was demonstrated, not just claimed</a:t>
            </a:r>
            <a:endParaRPr lang="en-US" sz="1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3440" y="5474208"/>
            <a:ext cx="316992" cy="3169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5307232"/>
            <a:ext cx="1030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+ Edge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healthcare infrastructure</a:t>
            </a:r>
          </a:p>
          <a:p>
            <a:r>
              <a:rPr lang="en-US" sz="1533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consent, cross-institution longitudinal records, and DID-based identity were all implemented end-to-end</a:t>
            </a:r>
            <a:endParaRPr lang="en-US" sz="1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315456"/>
            <a:ext cx="12192000" cy="5425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920" y="6315456"/>
            <a:ext cx="1194816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Hyperledger Fabric  ·  IPFS  ·  BioBERT  ·  R2Gen  ·  Mistral LLM  ·  HL7 FHIR R4  ·  LangChain  ·  Decentralized Identifier  ·  ICD-10  ·  SNOMED-CT</a:t>
            </a:r>
            <a:endParaRPr lang="en-US" sz="126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58" y="2762865"/>
            <a:ext cx="6000137" cy="1306239"/>
          </a:xfrm>
        </p:spPr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1170</Words>
  <Application>Microsoft Office PowerPoint</Application>
  <PresentationFormat>Widescreen</PresentationFormat>
  <Paragraphs>218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Problem Definition</vt:lpstr>
      <vt:lpstr>Existing Solutions &amp; Limitations</vt:lpstr>
      <vt:lpstr>Project Overview</vt:lpstr>
      <vt:lpstr>Key innovations</vt:lpstr>
      <vt:lpstr>System Architecture(High level)</vt:lpstr>
      <vt:lpstr>Module 1:- Agent AI pipleine</vt:lpstr>
      <vt:lpstr>Module 3:– IPFS Storage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Results(Frontend part)</vt:lpstr>
      <vt:lpstr>Results (Backend part)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RAMAVATH CHINNA RAYUDU</dc:creator>
  <cp:lastModifiedBy>RAMAVATH CHINNA RAYUDU</cp:lastModifiedBy>
  <cp:revision>16</cp:revision>
  <dcterms:created xsi:type="dcterms:W3CDTF">2026-02-03T04:48:55Z</dcterms:created>
  <dcterms:modified xsi:type="dcterms:W3CDTF">2026-04-13T09:41:50Z</dcterms:modified>
</cp:coreProperties>
</file>